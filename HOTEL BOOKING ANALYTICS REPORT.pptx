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8" d="100"/>
          <a:sy n="68" d="100"/>
        </p:scale>
        <p:origin x="81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dirty="0"/>
              <a:t>6/7/2026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4509A250-FF31-4206-8172-F9D3106AACB1}" type="datetimeFigureOut">
              <a:rPr lang="en-US" dirty="0"/>
              <a:t>6/7/2026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796027F-7875-4030-9381-8BD8C4F21935}" type="datetimeFigureOut">
              <a:rPr lang="en-US" dirty="0"/>
              <a:t>6/7/2026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796027F-7875-4030-9381-8BD8C4F21935}" type="datetimeFigureOut">
              <a:rPr lang="en-US" dirty="0"/>
              <a:t>6/7/2026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796027F-7875-4030-9381-8BD8C4F21935}" type="datetimeFigureOut">
              <a:rPr lang="en-US" dirty="0"/>
              <a:t>6/7/2026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4509A250-FF31-4206-8172-F9D3106AACB1}" type="datetimeFigureOut">
              <a:rPr lang="en-US" dirty="0"/>
              <a:t>6/7/2026</a:t>
            </a:fld>
            <a:endParaRPr lang="en-US" dirty="0"/>
          </a:p>
        </p:txBody>
      </p:sp>
      <p:sp>
        <p:nvSpPr>
          <p:cNvPr id="5" name="Footer Placeholder 3"/>
          <p:cNvSpPr>
            <a:spLocks noGrp="1"/>
          </p:cNvSpPr>
          <p:nvPr>
            <p:ph type="ftr" sz="quarter" idx="11"/>
          </p:nvPr>
        </p:nvSpPr>
        <p:spPr/>
        <p:txBody>
          <a:bodyPr/>
          <a:lstStyle/>
          <a:p>
            <a:endParaRPr lang="en-US" dirty="0"/>
          </a:p>
        </p:txBody>
      </p:sp>
      <p:sp>
        <p:nvSpPr>
          <p:cNvPr id="6" name="Slide Number Placeholder 4"/>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4509A250-FF31-4206-8172-F9D3106AACB1}" type="datetimeFigureOut">
              <a:rPr lang="en-US" dirty="0"/>
              <a:t>6/7/2026</a:t>
            </a:fld>
            <a:endParaRPr lang="en-US" dirty="0"/>
          </a:p>
        </p:txBody>
      </p:sp>
      <p:sp>
        <p:nvSpPr>
          <p:cNvPr id="5" name="Footer Placeholder 2"/>
          <p:cNvSpPr>
            <a:spLocks noGrp="1"/>
          </p:cNvSpPr>
          <p:nvPr>
            <p:ph type="ftr" sz="quarter" idx="11"/>
          </p:nvPr>
        </p:nvSpPr>
        <p:spPr/>
        <p:txBody>
          <a:bodyPr/>
          <a:lstStyle/>
          <a:p>
            <a:endParaRPr lang="en-US" dirty="0"/>
          </a:p>
        </p:txBody>
      </p:sp>
      <p:sp>
        <p:nvSpPr>
          <p:cNvPr id="6" name="Slide Number Placeholder 3"/>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4509A250-FF31-4206-8172-F9D3106AACB1}" type="datetimeFigureOut">
              <a:rPr lang="en-US" dirty="0"/>
              <a:t>6/7/2026</a:t>
            </a:fld>
            <a:endParaRPr lang="en-US" dirty="0"/>
          </a:p>
        </p:txBody>
      </p:sp>
      <p:sp>
        <p:nvSpPr>
          <p:cNvPr id="5" name="Footer Placeholder 5"/>
          <p:cNvSpPr>
            <a:spLocks noGrp="1"/>
          </p:cNvSpPr>
          <p:nvPr>
            <p:ph type="ftr" sz="quarter" idx="11"/>
          </p:nvPr>
        </p:nvSpPr>
        <p:spPr/>
        <p:txBody>
          <a:bodyPr/>
          <a:lstStyle/>
          <a:p>
            <a:endParaRPr lang="en-US" dirty="0"/>
          </a:p>
        </p:txBody>
      </p:sp>
      <p:sp>
        <p:nvSpPr>
          <p:cNvPr id="6"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dirty="0"/>
              <a:t>6/7/2026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dirty="0"/>
              <a:t>6/7/2026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6/7/2026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6/7/2026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6/7/2026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6/7/2026</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6/7/2026</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dirty="0"/>
              <a:t>6/7/2026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dirty="0"/>
              <a:t>6/7/2026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4AAD347D-5ACD-4C99-B74B-A9C85AD731AF}" type="datetimeFigureOut">
              <a:rPr lang="en-US" dirty="0"/>
              <a:t>6/7/2026</a:t>
            </a:fld>
            <a:endParaRPr lang="en-US"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D57F1E4F-1CFF-5643-939E-02111984F565}" type="slidenum">
              <a:rPr lang="en-US" dirty="0"/>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8" r:id="rId9"/>
    <p:sldLayoutId id="2147483667" r:id="rId10"/>
    <p:sldLayoutId id="2147483661" r:id="rId11"/>
    <p:sldLayoutId id="2147483664" r:id="rId12"/>
    <p:sldLayoutId id="2147483662" r:id="rId13"/>
    <p:sldLayoutId id="2147483669" r:id="rId14"/>
    <p:sldLayoutId id="2147483670" r:id="rId15"/>
    <p:sldLayoutId id="2147483658" r:id="rId16"/>
    <p:sldLayoutId id="2147483659" r:id="rId17"/>
  </p:sldLayoutIdLst>
  <p:hf sldNum="0"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9C56B8-137B-B201-D958-58AA07D93924}"/>
              </a:ext>
            </a:extLst>
          </p:cNvPr>
          <p:cNvSpPr>
            <a:spLocks noGrp="1"/>
          </p:cNvSpPr>
          <p:nvPr>
            <p:ph type="ctrTitle"/>
          </p:nvPr>
        </p:nvSpPr>
        <p:spPr/>
        <p:txBody>
          <a:bodyPr/>
          <a:lstStyle/>
          <a:p>
            <a:r>
              <a:rPr lang="en-US" b="1" dirty="0">
                <a:solidFill>
                  <a:schemeClr val="bg1"/>
                </a:solidFill>
              </a:rPr>
              <a:t>HOTEL BOOKING ANALYTICS REPORT</a:t>
            </a:r>
            <a:br>
              <a:rPr lang="en-US" dirty="0"/>
            </a:br>
            <a:endParaRPr lang="en-US" dirty="0"/>
          </a:p>
        </p:txBody>
      </p:sp>
      <p:sp>
        <p:nvSpPr>
          <p:cNvPr id="3" name="Subtitle 2">
            <a:extLst>
              <a:ext uri="{FF2B5EF4-FFF2-40B4-BE49-F238E27FC236}">
                <a16:creationId xmlns:a16="http://schemas.microsoft.com/office/drawing/2014/main" id="{BB7BFDD9-89A4-80FE-9DC0-CF768915056E}"/>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4986127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8FD608-757B-4C30-DA34-1B56C9AD5A06}"/>
              </a:ext>
            </a:extLst>
          </p:cNvPr>
          <p:cNvSpPr>
            <a:spLocks noGrp="1"/>
          </p:cNvSpPr>
          <p:nvPr>
            <p:ph type="title"/>
          </p:nvPr>
        </p:nvSpPr>
        <p:spPr>
          <a:xfrm>
            <a:off x="350689" y="199499"/>
            <a:ext cx="9404723" cy="1094728"/>
          </a:xfrm>
        </p:spPr>
        <p:txBody>
          <a:bodyPr/>
          <a:lstStyle/>
          <a:p>
            <a:r>
              <a:rPr lang="en-US" sz="6000" b="1" dirty="0">
                <a:solidFill>
                  <a:schemeClr val="bg1"/>
                </a:solidFill>
              </a:rPr>
              <a:t>Executive Summary</a:t>
            </a:r>
            <a:br>
              <a:rPr lang="en-US" dirty="0"/>
            </a:br>
            <a:endParaRPr lang="en-US" dirty="0"/>
          </a:p>
        </p:txBody>
      </p:sp>
      <p:sp>
        <p:nvSpPr>
          <p:cNvPr id="3" name="Content Placeholder 2">
            <a:extLst>
              <a:ext uri="{FF2B5EF4-FFF2-40B4-BE49-F238E27FC236}">
                <a16:creationId xmlns:a16="http://schemas.microsoft.com/office/drawing/2014/main" id="{13A0C34B-21E0-F66F-8406-8BC6EA0727A7}"/>
              </a:ext>
            </a:extLst>
          </p:cNvPr>
          <p:cNvSpPr>
            <a:spLocks noGrp="1"/>
          </p:cNvSpPr>
          <p:nvPr>
            <p:ph idx="1"/>
          </p:nvPr>
        </p:nvSpPr>
        <p:spPr>
          <a:xfrm>
            <a:off x="350689" y="1575582"/>
            <a:ext cx="10636179" cy="4954172"/>
          </a:xfrm>
        </p:spPr>
        <p:txBody>
          <a:bodyPr>
            <a:normAutofit/>
          </a:bodyPr>
          <a:lstStyle/>
          <a:p>
            <a:pPr marL="0" indent="0">
              <a:buNone/>
            </a:pPr>
            <a:r>
              <a:rPr lang="en-US" dirty="0"/>
              <a:t>This report presents an analysis of hotel booking data aimed at understanding customer behavior, revenue performance, cancellation patterns, and operational efficiency. The analysis was conducted using SQL for data preparation and Power BI for visualization and business intelligence reporting. </a:t>
            </a:r>
          </a:p>
          <a:p>
            <a:pPr marL="0" indent="0">
              <a:buNone/>
            </a:pPr>
            <a:r>
              <a:rPr lang="en-US" dirty="0"/>
              <a:t>The findings reveal that City Hotels dominate both booking volume and revenue generation, international guests account for the majority of customers, and Online Travel Agencies (Online TA) serve as the primary booking channel. However, high cancellation rates among long-term bookings and no-deposit reservations present significant operational and financial challenges. </a:t>
            </a:r>
          </a:p>
          <a:p>
            <a:pPr marL="0" indent="0">
              <a:buNone/>
            </a:pPr>
            <a:r>
              <a:rPr lang="en-US" dirty="0"/>
              <a:t>The Insights generated from this analysis provide valuable recommendations for improving revenue management, customer retention, and operational efficiency.</a:t>
            </a:r>
          </a:p>
          <a:p>
            <a:endParaRPr lang="en-US" dirty="0"/>
          </a:p>
        </p:txBody>
      </p:sp>
    </p:spTree>
    <p:extLst>
      <p:ext uri="{BB962C8B-B14F-4D97-AF65-F5344CB8AC3E}">
        <p14:creationId xmlns:p14="http://schemas.microsoft.com/office/powerpoint/2010/main" val="24820532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C91004-26C0-9F8B-7276-9E384A7DE250}"/>
              </a:ext>
            </a:extLst>
          </p:cNvPr>
          <p:cNvSpPr>
            <a:spLocks noGrp="1"/>
          </p:cNvSpPr>
          <p:nvPr>
            <p:ph type="title"/>
          </p:nvPr>
        </p:nvSpPr>
        <p:spPr>
          <a:xfrm>
            <a:off x="340088" y="227635"/>
            <a:ext cx="9404723" cy="954051"/>
          </a:xfrm>
        </p:spPr>
        <p:txBody>
          <a:bodyPr/>
          <a:lstStyle/>
          <a:p>
            <a:r>
              <a:rPr lang="en-US" sz="4800" b="1" dirty="0">
                <a:solidFill>
                  <a:schemeClr val="bg1"/>
                </a:solidFill>
              </a:rPr>
              <a:t>Hotel Executive Overview</a:t>
            </a:r>
            <a:br>
              <a:rPr lang="en-US" dirty="0"/>
            </a:br>
            <a:endParaRPr lang="en-US" dirty="0"/>
          </a:p>
        </p:txBody>
      </p:sp>
      <p:sp>
        <p:nvSpPr>
          <p:cNvPr id="3" name="Content Placeholder 2">
            <a:extLst>
              <a:ext uri="{FF2B5EF4-FFF2-40B4-BE49-F238E27FC236}">
                <a16:creationId xmlns:a16="http://schemas.microsoft.com/office/drawing/2014/main" id="{254C3576-DD3E-C9D6-7120-A2C93E2C7A21}"/>
              </a:ext>
            </a:extLst>
          </p:cNvPr>
          <p:cNvSpPr>
            <a:spLocks noGrp="1"/>
          </p:cNvSpPr>
          <p:nvPr>
            <p:ph sz="half" idx="1"/>
          </p:nvPr>
        </p:nvSpPr>
        <p:spPr>
          <a:xfrm>
            <a:off x="340087" y="1477108"/>
            <a:ext cx="5905967" cy="4994029"/>
          </a:xfrm>
        </p:spPr>
        <p:txBody>
          <a:bodyPr>
            <a:normAutofit fontScale="92500"/>
          </a:bodyPr>
          <a:lstStyle/>
          <a:p>
            <a:r>
              <a:rPr lang="en-US" sz="2000" dirty="0">
                <a:latin typeface="Tahoma" panose="020B0604030504040204" pitchFamily="34" charset="0"/>
                <a:ea typeface="Tahoma" panose="020B0604030504040204" pitchFamily="34" charset="0"/>
                <a:cs typeface="Tahoma" panose="020B0604030504040204" pitchFamily="34" charset="0"/>
              </a:rPr>
              <a:t>The hotel recorded approximately 119,000 bookings, generating total revenue of about 42.73 million. The Average Daily Rate (ADR) stood at approximately 102 per booking.</a:t>
            </a:r>
          </a:p>
          <a:p>
            <a:r>
              <a:rPr lang="en-US" sz="2000" dirty="0">
                <a:latin typeface="Tahoma" panose="020B0604030504040204" pitchFamily="34" charset="0"/>
                <a:ea typeface="Tahoma" panose="020B0604030504040204" pitchFamily="34" charset="0"/>
                <a:cs typeface="Tahoma" panose="020B0604030504040204" pitchFamily="34" charset="0"/>
              </a:rPr>
              <a:t>Analysis showed that City Hotels accounted for approximately 66% of total bookings, while Resort Hotels accounted for 34%. This indicates that City Hotels are the primary contributors to business performance and revenue generation. </a:t>
            </a:r>
          </a:p>
          <a:p>
            <a:r>
              <a:rPr lang="en-US" sz="2000" dirty="0">
                <a:latin typeface="Tahoma" panose="020B0604030504040204" pitchFamily="34" charset="0"/>
                <a:ea typeface="Tahoma" panose="020B0604030504040204" pitchFamily="34" charset="0"/>
                <a:cs typeface="Tahoma" panose="020B0604030504040204" pitchFamily="34" charset="0"/>
              </a:rPr>
              <a:t>The market segment analysis revealed that Online Travel Agencies contribute the highest number of bookings, followed by Offline Travel Agencies and Group bookings. Geographic analysis showed that Portugal is the largest source market, contributing significantly more bookings than any other country.</a:t>
            </a:r>
          </a:p>
          <a:p>
            <a:endParaRPr lang="en-US" dirty="0"/>
          </a:p>
        </p:txBody>
      </p:sp>
      <p:sp>
        <p:nvSpPr>
          <p:cNvPr id="4" name="Content Placeholder 3">
            <a:extLst>
              <a:ext uri="{FF2B5EF4-FFF2-40B4-BE49-F238E27FC236}">
                <a16:creationId xmlns:a16="http://schemas.microsoft.com/office/drawing/2014/main" id="{64DA6ECE-A7AD-105A-4F78-674911009106}"/>
              </a:ext>
            </a:extLst>
          </p:cNvPr>
          <p:cNvSpPr>
            <a:spLocks noGrp="1"/>
          </p:cNvSpPr>
          <p:nvPr>
            <p:ph sz="half" idx="2"/>
          </p:nvPr>
        </p:nvSpPr>
        <p:spPr>
          <a:xfrm>
            <a:off x="6822111" y="1477108"/>
            <a:ext cx="4896277" cy="4825218"/>
          </a:xfrm>
        </p:spPr>
        <p:txBody>
          <a:bodyPr>
            <a:normAutofit fontScale="92500"/>
          </a:bodyPr>
          <a:lstStyle/>
          <a:p>
            <a:pPr marL="0" indent="0">
              <a:buNone/>
            </a:pPr>
            <a:r>
              <a:rPr lang="en-US" sz="2600" b="1" dirty="0">
                <a:solidFill>
                  <a:schemeClr val="bg1"/>
                </a:solidFill>
              </a:rPr>
              <a:t>Key Findings</a:t>
            </a:r>
            <a:endParaRPr lang="en-US" sz="2600" b="1" dirty="0"/>
          </a:p>
          <a:p>
            <a:r>
              <a:rPr lang="en-US" sz="2200" dirty="0">
                <a:latin typeface="Tahoma" panose="020B0604030504040204" pitchFamily="34" charset="0"/>
                <a:ea typeface="Tahoma" panose="020B0604030504040204" pitchFamily="34" charset="0"/>
                <a:cs typeface="Tahoma" panose="020B0604030504040204" pitchFamily="34" charset="0"/>
              </a:rPr>
              <a:t>- Total bookings exceeded 119,000.</a:t>
            </a:r>
          </a:p>
          <a:p>
            <a:r>
              <a:rPr lang="en-US" sz="2200" dirty="0">
                <a:latin typeface="Tahoma" panose="020B0604030504040204" pitchFamily="34" charset="0"/>
                <a:ea typeface="Tahoma" panose="020B0604030504040204" pitchFamily="34" charset="0"/>
                <a:cs typeface="Tahoma" panose="020B0604030504040204" pitchFamily="34" charset="0"/>
              </a:rPr>
              <a:t>- Total revenue reached approximately 42.73 million.</a:t>
            </a:r>
          </a:p>
          <a:p>
            <a:r>
              <a:rPr lang="en-US" sz="2200" dirty="0">
                <a:latin typeface="Tahoma" panose="020B0604030504040204" pitchFamily="34" charset="0"/>
                <a:ea typeface="Tahoma" panose="020B0604030504040204" pitchFamily="34" charset="0"/>
                <a:cs typeface="Tahoma" panose="020B0604030504040204" pitchFamily="34" charset="0"/>
              </a:rPr>
              <a:t>- City Hotels generated the majority of bookings and revenue.</a:t>
            </a:r>
          </a:p>
          <a:p>
            <a:r>
              <a:rPr lang="en-US" sz="2200" dirty="0">
                <a:latin typeface="Tahoma" panose="020B0604030504040204" pitchFamily="34" charset="0"/>
                <a:ea typeface="Tahoma" panose="020B0604030504040204" pitchFamily="34" charset="0"/>
                <a:cs typeface="Tahoma" panose="020B0604030504040204" pitchFamily="34" charset="0"/>
              </a:rPr>
              <a:t>- Portugal was the leading source market.</a:t>
            </a:r>
          </a:p>
          <a:p>
            <a:r>
              <a:rPr lang="en-US" sz="2200" dirty="0">
                <a:latin typeface="Tahoma" panose="020B0604030504040204" pitchFamily="34" charset="0"/>
                <a:ea typeface="Tahoma" panose="020B0604030504040204" pitchFamily="34" charset="0"/>
                <a:cs typeface="Tahoma" panose="020B0604030504040204" pitchFamily="34" charset="0"/>
              </a:rPr>
              <a:t>- Online Travel Agencies were the dominant booking channel.</a:t>
            </a:r>
          </a:p>
          <a:p>
            <a:endParaRPr lang="en-US" dirty="0"/>
          </a:p>
        </p:txBody>
      </p:sp>
    </p:spTree>
    <p:extLst>
      <p:ext uri="{BB962C8B-B14F-4D97-AF65-F5344CB8AC3E}">
        <p14:creationId xmlns:p14="http://schemas.microsoft.com/office/powerpoint/2010/main" val="2100205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E5399E-A7B4-E155-C986-88542146E9AD}"/>
              </a:ext>
            </a:extLst>
          </p:cNvPr>
          <p:cNvSpPr>
            <a:spLocks noGrp="1"/>
          </p:cNvSpPr>
          <p:nvPr>
            <p:ph type="title"/>
          </p:nvPr>
        </p:nvSpPr>
        <p:spPr>
          <a:xfrm>
            <a:off x="340088" y="199500"/>
            <a:ext cx="9404723" cy="1024390"/>
          </a:xfrm>
        </p:spPr>
        <p:txBody>
          <a:bodyPr/>
          <a:lstStyle/>
          <a:p>
            <a:r>
              <a:rPr lang="en-US" b="1" dirty="0">
                <a:solidFill>
                  <a:schemeClr val="bg1"/>
                </a:solidFill>
              </a:rPr>
              <a:t>Customer and Geographic Analysis</a:t>
            </a:r>
            <a:br>
              <a:rPr lang="en-US" b="1" dirty="0"/>
            </a:br>
            <a:endParaRPr lang="en-US" b="1" dirty="0"/>
          </a:p>
        </p:txBody>
      </p:sp>
      <p:sp>
        <p:nvSpPr>
          <p:cNvPr id="3" name="Content Placeholder 2">
            <a:extLst>
              <a:ext uri="{FF2B5EF4-FFF2-40B4-BE49-F238E27FC236}">
                <a16:creationId xmlns:a16="http://schemas.microsoft.com/office/drawing/2014/main" id="{42E0D471-0810-EAB8-5EF2-DA9F44D81463}"/>
              </a:ext>
            </a:extLst>
          </p:cNvPr>
          <p:cNvSpPr>
            <a:spLocks noGrp="1"/>
          </p:cNvSpPr>
          <p:nvPr>
            <p:ph sz="half" idx="1"/>
          </p:nvPr>
        </p:nvSpPr>
        <p:spPr>
          <a:xfrm>
            <a:off x="340088" y="1445186"/>
            <a:ext cx="5244786" cy="4779230"/>
          </a:xfrm>
        </p:spPr>
        <p:txBody>
          <a:bodyPr>
            <a:normAutofit fontScale="85000" lnSpcReduction="20000"/>
          </a:bodyPr>
          <a:lstStyle/>
          <a:p>
            <a:pPr marL="0" indent="0">
              <a:buNone/>
            </a:pPr>
            <a:endParaRPr lang="en-US" dirty="0"/>
          </a:p>
          <a:p>
            <a:r>
              <a:rPr lang="en-US" dirty="0"/>
              <a:t>Customer analysis revealed that international guests account for approximately 59% of all bookings, while domestic guests account for 41%. This indicates a strong dependence on international tourism.</a:t>
            </a:r>
          </a:p>
          <a:p>
            <a:pPr marL="0" indent="0">
              <a:buNone/>
            </a:pPr>
            <a:endParaRPr lang="en-US" dirty="0"/>
          </a:p>
          <a:p>
            <a:r>
              <a:rPr lang="en-US" dirty="0"/>
              <a:t>Customer type analysis showed that transient guests represent the majority of hotel customers. Family travelers account for a relatively small proportion of total guests compared to non-family travelers.</a:t>
            </a:r>
          </a:p>
          <a:p>
            <a:pPr marL="0" indent="0">
              <a:buNone/>
            </a:pPr>
            <a:endParaRPr lang="en-US" dirty="0"/>
          </a:p>
          <a:p>
            <a:r>
              <a:rPr lang="en-US" dirty="0"/>
              <a:t>The largest customer markets include Portugal, the United Kingdom, France, Spain, Germany, Italy, Ireland, and Belgium. Portugal contributes both the highest number of bookings and the highest revenue among all countries analyzed.</a:t>
            </a:r>
          </a:p>
          <a:p>
            <a:endParaRPr lang="en-US" dirty="0"/>
          </a:p>
        </p:txBody>
      </p:sp>
      <p:sp>
        <p:nvSpPr>
          <p:cNvPr id="4" name="Content Placeholder 3">
            <a:extLst>
              <a:ext uri="{FF2B5EF4-FFF2-40B4-BE49-F238E27FC236}">
                <a16:creationId xmlns:a16="http://schemas.microsoft.com/office/drawing/2014/main" id="{C34C8254-842E-7575-B936-DA90E0860123}"/>
              </a:ext>
            </a:extLst>
          </p:cNvPr>
          <p:cNvSpPr>
            <a:spLocks noGrp="1"/>
          </p:cNvSpPr>
          <p:nvPr>
            <p:ph sz="half" idx="2"/>
          </p:nvPr>
        </p:nvSpPr>
        <p:spPr>
          <a:xfrm>
            <a:off x="6125642" y="1445187"/>
            <a:ext cx="5726270" cy="4785726"/>
          </a:xfrm>
        </p:spPr>
        <p:txBody>
          <a:bodyPr>
            <a:normAutofit fontScale="85000" lnSpcReduction="20000"/>
          </a:bodyPr>
          <a:lstStyle/>
          <a:p>
            <a:pPr marL="0" indent="0">
              <a:buNone/>
            </a:pPr>
            <a:r>
              <a:rPr lang="en-US" sz="2800" b="1" dirty="0">
                <a:solidFill>
                  <a:schemeClr val="bg1"/>
                </a:solidFill>
              </a:rPr>
              <a:t>Key Findings</a:t>
            </a:r>
            <a:endParaRPr lang="en-US" dirty="0"/>
          </a:p>
          <a:p>
            <a:r>
              <a:rPr lang="en-US" sz="2100" dirty="0">
                <a:latin typeface="Tahoma" panose="020B0604030504040204" pitchFamily="34" charset="0"/>
                <a:ea typeface="Tahoma" panose="020B0604030504040204" pitchFamily="34" charset="0"/>
                <a:cs typeface="Tahoma" panose="020B0604030504040204" pitchFamily="34" charset="0"/>
              </a:rPr>
              <a:t>- International guests represent the majority of customers.</a:t>
            </a:r>
          </a:p>
          <a:p>
            <a:r>
              <a:rPr lang="en-US" sz="2100" dirty="0">
                <a:latin typeface="Tahoma" panose="020B0604030504040204" pitchFamily="34" charset="0"/>
                <a:ea typeface="Tahoma" panose="020B0604030504040204" pitchFamily="34" charset="0"/>
                <a:cs typeface="Tahoma" panose="020B0604030504040204" pitchFamily="34" charset="0"/>
              </a:rPr>
              <a:t>- Transient guests dominate the customer base.</a:t>
            </a:r>
          </a:p>
          <a:p>
            <a:r>
              <a:rPr lang="en-US" sz="2100" dirty="0">
                <a:latin typeface="Tahoma" panose="020B0604030504040204" pitchFamily="34" charset="0"/>
                <a:ea typeface="Tahoma" panose="020B0604030504040204" pitchFamily="34" charset="0"/>
                <a:cs typeface="Tahoma" panose="020B0604030504040204" pitchFamily="34" charset="0"/>
              </a:rPr>
              <a:t>- Non-family travelers account for most hotel bookings.</a:t>
            </a:r>
          </a:p>
          <a:p>
            <a:r>
              <a:rPr lang="en-US" sz="2100" dirty="0">
                <a:latin typeface="Tahoma" panose="020B0604030504040204" pitchFamily="34" charset="0"/>
                <a:ea typeface="Tahoma" panose="020B0604030504040204" pitchFamily="34" charset="0"/>
                <a:cs typeface="Tahoma" panose="020B0604030504040204" pitchFamily="34" charset="0"/>
              </a:rPr>
              <a:t>- Portugal, the United Kingdom, and France are the most important customer markets.</a:t>
            </a:r>
          </a:p>
          <a:p>
            <a:r>
              <a:rPr lang="en-US" sz="2100" dirty="0">
                <a:latin typeface="Tahoma" panose="020B0604030504040204" pitchFamily="34" charset="0"/>
                <a:ea typeface="Tahoma" panose="020B0604030504040204" pitchFamily="34" charset="0"/>
                <a:cs typeface="Tahoma" panose="020B0604030504040204" pitchFamily="34" charset="0"/>
              </a:rPr>
              <a:t>- Repeat guest numbers remain relatively low compared to total bookings.</a:t>
            </a:r>
          </a:p>
          <a:p>
            <a:pPr marL="0" indent="0">
              <a:buNone/>
            </a:pPr>
            <a:r>
              <a:rPr lang="en-US" sz="2800" b="1" dirty="0">
                <a:solidFill>
                  <a:schemeClr val="bg1"/>
                </a:solidFill>
              </a:rPr>
              <a:t>Implications</a:t>
            </a:r>
            <a:endParaRPr lang="en-US" dirty="0"/>
          </a:p>
          <a:p>
            <a:pPr marL="0" indent="0" algn="just">
              <a:buNone/>
            </a:pPr>
            <a:r>
              <a:rPr lang="en-US" sz="2100" dirty="0">
                <a:latin typeface="Tahoma" panose="020B0604030504040204" pitchFamily="34" charset="0"/>
                <a:ea typeface="Tahoma" panose="020B0604030504040204" pitchFamily="34" charset="0"/>
                <a:cs typeface="Tahoma" panose="020B0604030504040204" pitchFamily="34" charset="0"/>
              </a:rPr>
              <a:t>The hotel’s performance is highly dependent on international travel demand. Any disruptions in international tourism may significantly affect occupancy and revenue levels.</a:t>
            </a:r>
            <a:endParaRPr lang="en-US" dirty="0"/>
          </a:p>
          <a:p>
            <a:endParaRPr lang="en-US" dirty="0"/>
          </a:p>
        </p:txBody>
      </p:sp>
    </p:spTree>
    <p:extLst>
      <p:ext uri="{BB962C8B-B14F-4D97-AF65-F5344CB8AC3E}">
        <p14:creationId xmlns:p14="http://schemas.microsoft.com/office/powerpoint/2010/main" val="14839371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C546AF-ADC2-61C2-C79A-ECB00F35CFEF}"/>
              </a:ext>
            </a:extLst>
          </p:cNvPr>
          <p:cNvSpPr>
            <a:spLocks noGrp="1"/>
          </p:cNvSpPr>
          <p:nvPr>
            <p:ph type="title"/>
          </p:nvPr>
        </p:nvSpPr>
        <p:spPr>
          <a:xfrm>
            <a:off x="195945" y="157297"/>
            <a:ext cx="9404723" cy="1400530"/>
          </a:xfrm>
        </p:spPr>
        <p:txBody>
          <a:bodyPr/>
          <a:lstStyle/>
          <a:p>
            <a:r>
              <a:rPr lang="en-US" b="1" dirty="0">
                <a:solidFill>
                  <a:schemeClr val="bg1"/>
                </a:solidFill>
              </a:rPr>
              <a:t>Revenue and Room Performance Analysis</a:t>
            </a:r>
            <a:br>
              <a:rPr lang="en-US" dirty="0"/>
            </a:br>
            <a:endParaRPr lang="en-US" dirty="0"/>
          </a:p>
        </p:txBody>
      </p:sp>
      <p:sp>
        <p:nvSpPr>
          <p:cNvPr id="3" name="Content Placeholder 2">
            <a:extLst>
              <a:ext uri="{FF2B5EF4-FFF2-40B4-BE49-F238E27FC236}">
                <a16:creationId xmlns:a16="http://schemas.microsoft.com/office/drawing/2014/main" id="{DD19FD3E-C634-B28B-EABE-AAB83CD5E4F1}"/>
              </a:ext>
            </a:extLst>
          </p:cNvPr>
          <p:cNvSpPr>
            <a:spLocks noGrp="1"/>
          </p:cNvSpPr>
          <p:nvPr>
            <p:ph sz="half" idx="1"/>
          </p:nvPr>
        </p:nvSpPr>
        <p:spPr>
          <a:xfrm>
            <a:off x="322554" y="1842868"/>
            <a:ext cx="5431132" cy="4408987"/>
          </a:xfrm>
        </p:spPr>
        <p:txBody>
          <a:bodyPr>
            <a:normAutofit fontScale="70000" lnSpcReduction="20000"/>
          </a:bodyPr>
          <a:lstStyle/>
          <a:p>
            <a:pPr marL="0" indent="0">
              <a:buNone/>
            </a:pPr>
            <a:r>
              <a:rPr lang="en-US" dirty="0"/>
              <a:t> </a:t>
            </a:r>
          </a:p>
          <a:p>
            <a:r>
              <a:rPr lang="en-US" dirty="0"/>
              <a:t>Revenue analysis revealed significant differences among room categories. Room Type A emerged as the most requested room and generated the highest revenue contribution.</a:t>
            </a:r>
          </a:p>
          <a:p>
            <a:r>
              <a:rPr lang="en-US" dirty="0"/>
              <a:t> </a:t>
            </a:r>
          </a:p>
          <a:p>
            <a:r>
              <a:rPr lang="en-US" dirty="0"/>
              <a:t>City Hotels consistently outperformed Resort Hotels in revenue generation. Furthermore, the Online Travel Agency segment generated the highest revenue among all market segments.</a:t>
            </a:r>
          </a:p>
          <a:p>
            <a:r>
              <a:rPr lang="en-US" dirty="0"/>
              <a:t> </a:t>
            </a:r>
          </a:p>
          <a:p>
            <a:r>
              <a:rPr lang="en-US" dirty="0"/>
              <a:t>The average stay duration was approximately three nights, suggesting that the hotel primarily serves short-term travelers.</a:t>
            </a:r>
          </a:p>
          <a:p>
            <a:r>
              <a:rPr lang="en-US" dirty="0"/>
              <a:t> </a:t>
            </a:r>
          </a:p>
          <a:p>
            <a:endParaRPr lang="en-US" dirty="0"/>
          </a:p>
        </p:txBody>
      </p:sp>
      <p:sp>
        <p:nvSpPr>
          <p:cNvPr id="4" name="Content Placeholder 3">
            <a:extLst>
              <a:ext uri="{FF2B5EF4-FFF2-40B4-BE49-F238E27FC236}">
                <a16:creationId xmlns:a16="http://schemas.microsoft.com/office/drawing/2014/main" id="{6F0AA95F-EE60-2CF7-25DF-E62BCEAA4A0D}"/>
              </a:ext>
            </a:extLst>
          </p:cNvPr>
          <p:cNvSpPr>
            <a:spLocks noGrp="1"/>
          </p:cNvSpPr>
          <p:nvPr>
            <p:ph sz="half" idx="2"/>
          </p:nvPr>
        </p:nvSpPr>
        <p:spPr>
          <a:xfrm>
            <a:off x="6096000" y="1842868"/>
            <a:ext cx="5773445" cy="4559946"/>
          </a:xfrm>
        </p:spPr>
        <p:txBody>
          <a:bodyPr>
            <a:normAutofit fontScale="70000" lnSpcReduction="20000"/>
          </a:bodyPr>
          <a:lstStyle/>
          <a:p>
            <a:r>
              <a:rPr lang="en-US" sz="3300" b="1" dirty="0">
                <a:solidFill>
                  <a:schemeClr val="bg1"/>
                </a:solidFill>
              </a:rPr>
              <a:t>Key Findings</a:t>
            </a:r>
            <a:endParaRPr lang="en-US" dirty="0"/>
          </a:p>
          <a:p>
            <a:r>
              <a:rPr lang="en-US" sz="2400" dirty="0">
                <a:latin typeface="Tahoma" panose="020B0604030504040204" pitchFamily="34" charset="0"/>
                <a:ea typeface="Tahoma" panose="020B0604030504040204" pitchFamily="34" charset="0"/>
                <a:cs typeface="Tahoma" panose="020B0604030504040204" pitchFamily="34" charset="0"/>
              </a:rPr>
              <a:t>- Room Type A generated the highest revenue.</a:t>
            </a:r>
          </a:p>
          <a:p>
            <a:r>
              <a:rPr lang="en-US" sz="2400" dirty="0">
                <a:latin typeface="Tahoma" panose="020B0604030504040204" pitchFamily="34" charset="0"/>
                <a:ea typeface="Tahoma" panose="020B0604030504040204" pitchFamily="34" charset="0"/>
                <a:cs typeface="Tahoma" panose="020B0604030504040204" pitchFamily="34" charset="0"/>
              </a:rPr>
              <a:t>- Room Type A was also the most requested room category.</a:t>
            </a:r>
          </a:p>
          <a:p>
            <a:r>
              <a:rPr lang="en-US" sz="2400" dirty="0">
                <a:latin typeface="Tahoma" panose="020B0604030504040204" pitchFamily="34" charset="0"/>
                <a:ea typeface="Tahoma" panose="020B0604030504040204" pitchFamily="34" charset="0"/>
                <a:cs typeface="Tahoma" panose="020B0604030504040204" pitchFamily="34" charset="0"/>
              </a:rPr>
              <a:t>- City Hotels generated significantly more revenue than Resort Hotels.</a:t>
            </a:r>
          </a:p>
          <a:p>
            <a:r>
              <a:rPr lang="en-US" sz="2400" dirty="0">
                <a:latin typeface="Tahoma" panose="020B0604030504040204" pitchFamily="34" charset="0"/>
                <a:ea typeface="Tahoma" panose="020B0604030504040204" pitchFamily="34" charset="0"/>
                <a:cs typeface="Tahoma" panose="020B0604030504040204" pitchFamily="34" charset="0"/>
              </a:rPr>
              <a:t>- Online Travel Agencies contributed the highest revenue.</a:t>
            </a:r>
          </a:p>
          <a:p>
            <a:r>
              <a:rPr lang="en-US" sz="2400" dirty="0">
                <a:latin typeface="Tahoma" panose="020B0604030504040204" pitchFamily="34" charset="0"/>
                <a:ea typeface="Tahoma" panose="020B0604030504040204" pitchFamily="34" charset="0"/>
                <a:cs typeface="Tahoma" panose="020B0604030504040204" pitchFamily="34" charset="0"/>
              </a:rPr>
              <a:t>- Average guest stay duration was approximately three nights.</a:t>
            </a:r>
            <a:r>
              <a:rPr lang="en-US" dirty="0"/>
              <a:t> </a:t>
            </a:r>
          </a:p>
          <a:p>
            <a:r>
              <a:rPr lang="en-US" sz="3300" b="1" dirty="0">
                <a:solidFill>
                  <a:schemeClr val="bg1"/>
                </a:solidFill>
              </a:rPr>
              <a:t>Implications</a:t>
            </a:r>
            <a:endParaRPr lang="en-US" dirty="0"/>
          </a:p>
          <a:p>
            <a:pPr marL="0" indent="0" algn="just">
              <a:buNone/>
            </a:pPr>
            <a:r>
              <a:rPr lang="en-US" sz="2400" dirty="0">
                <a:latin typeface="Tahoma" panose="020B0604030504040204" pitchFamily="34" charset="0"/>
                <a:ea typeface="Tahoma" panose="020B0604030504040204" pitchFamily="34" charset="0"/>
                <a:cs typeface="Tahoma" panose="020B0604030504040204" pitchFamily="34" charset="0"/>
              </a:rPr>
              <a:t>The hotel should prioritize Room Type A through targeted marketing and inventory management strategies, as it represents the strongest revenue driver.</a:t>
            </a:r>
          </a:p>
          <a:p>
            <a:endParaRPr lang="en-US" dirty="0"/>
          </a:p>
        </p:txBody>
      </p:sp>
    </p:spTree>
    <p:extLst>
      <p:ext uri="{BB962C8B-B14F-4D97-AF65-F5344CB8AC3E}">
        <p14:creationId xmlns:p14="http://schemas.microsoft.com/office/powerpoint/2010/main" val="2609323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96B593-B97D-342D-FAB7-C27A51537749}"/>
              </a:ext>
            </a:extLst>
          </p:cNvPr>
          <p:cNvSpPr>
            <a:spLocks noGrp="1"/>
          </p:cNvSpPr>
          <p:nvPr>
            <p:ph type="title"/>
          </p:nvPr>
        </p:nvSpPr>
        <p:spPr>
          <a:xfrm>
            <a:off x="153742" y="131670"/>
            <a:ext cx="9404723" cy="939984"/>
          </a:xfrm>
        </p:spPr>
        <p:txBody>
          <a:bodyPr/>
          <a:lstStyle/>
          <a:p>
            <a:r>
              <a:rPr lang="en-US" b="1" dirty="0">
                <a:solidFill>
                  <a:schemeClr val="bg1"/>
                </a:solidFill>
              </a:rPr>
              <a:t>Cancellation Analysis</a:t>
            </a:r>
            <a:br>
              <a:rPr lang="en-US" dirty="0"/>
            </a:br>
            <a:endParaRPr lang="en-US" dirty="0"/>
          </a:p>
        </p:txBody>
      </p:sp>
      <p:sp>
        <p:nvSpPr>
          <p:cNvPr id="3" name="Content Placeholder 2">
            <a:extLst>
              <a:ext uri="{FF2B5EF4-FFF2-40B4-BE49-F238E27FC236}">
                <a16:creationId xmlns:a16="http://schemas.microsoft.com/office/drawing/2014/main" id="{D503B798-156F-C90B-84D5-B22FB373191D}"/>
              </a:ext>
            </a:extLst>
          </p:cNvPr>
          <p:cNvSpPr>
            <a:spLocks noGrp="1"/>
          </p:cNvSpPr>
          <p:nvPr>
            <p:ph sz="half" idx="1"/>
          </p:nvPr>
        </p:nvSpPr>
        <p:spPr>
          <a:xfrm>
            <a:off x="153742" y="1266092"/>
            <a:ext cx="4993214" cy="5219114"/>
          </a:xfrm>
        </p:spPr>
        <p:txBody>
          <a:bodyPr>
            <a:normAutofit fontScale="70000" lnSpcReduction="20000"/>
          </a:bodyPr>
          <a:lstStyle/>
          <a:p>
            <a:pPr marL="0" indent="0">
              <a:buNone/>
            </a:pPr>
            <a:r>
              <a:rPr lang="en-US" sz="3100" b="1" dirty="0">
                <a:solidFill>
                  <a:schemeClr val="bg1"/>
                </a:solidFill>
              </a:rPr>
              <a:t>Cancellation analysis identified several factors contributing to booking cancellations.</a:t>
            </a:r>
            <a:endParaRPr lang="en-US" dirty="0"/>
          </a:p>
          <a:p>
            <a:r>
              <a:rPr lang="en-US" sz="2100" dirty="0">
                <a:latin typeface="Tahoma" panose="020B0604030504040204" pitchFamily="34" charset="0"/>
                <a:ea typeface="Tahoma" panose="020B0604030504040204" pitchFamily="34" charset="0"/>
                <a:cs typeface="Tahoma" panose="020B0604030504040204" pitchFamily="34" charset="0"/>
              </a:rPr>
              <a:t>Bookings made through the TA/TO channel recorded the highest number of cancellations. Similarly, the Online Travel Agency market segment accounted for the largest share of cancelled bookings.</a:t>
            </a:r>
          </a:p>
          <a:p>
            <a:pPr marL="0" indent="0">
              <a:buNone/>
            </a:pPr>
            <a:endParaRPr lang="en-US" sz="2100" dirty="0">
              <a:latin typeface="Tahoma" panose="020B0604030504040204" pitchFamily="34" charset="0"/>
              <a:ea typeface="Tahoma" panose="020B0604030504040204" pitchFamily="34" charset="0"/>
              <a:cs typeface="Tahoma" panose="020B0604030504040204" pitchFamily="34" charset="0"/>
            </a:endParaRPr>
          </a:p>
          <a:p>
            <a:r>
              <a:rPr lang="en-US" sz="2100" dirty="0">
                <a:latin typeface="Tahoma" panose="020B0604030504040204" pitchFamily="34" charset="0"/>
                <a:ea typeface="Tahoma" panose="020B0604030504040204" pitchFamily="34" charset="0"/>
                <a:cs typeface="Tahoma" panose="020B0604030504040204" pitchFamily="34" charset="0"/>
              </a:rPr>
              <a:t>Lead time analysis revealed a strong relationship between booking lead time and cancellation behavior. Customers who book far in advance are significantly more likely to cancel compared to those who book closer to their arrival date.</a:t>
            </a:r>
          </a:p>
          <a:p>
            <a:pPr marL="0" indent="0">
              <a:buNone/>
            </a:pPr>
            <a:endParaRPr lang="en-US" sz="2100" dirty="0">
              <a:latin typeface="Tahoma" panose="020B0604030504040204" pitchFamily="34" charset="0"/>
              <a:ea typeface="Tahoma" panose="020B0604030504040204" pitchFamily="34" charset="0"/>
              <a:cs typeface="Tahoma" panose="020B0604030504040204" pitchFamily="34" charset="0"/>
            </a:endParaRPr>
          </a:p>
          <a:p>
            <a:r>
              <a:rPr lang="en-US" sz="2100" dirty="0">
                <a:latin typeface="Tahoma" panose="020B0604030504040204" pitchFamily="34" charset="0"/>
                <a:ea typeface="Tahoma" panose="020B0604030504040204" pitchFamily="34" charset="0"/>
                <a:cs typeface="Tahoma" panose="020B0604030504040204" pitchFamily="34" charset="0"/>
              </a:rPr>
              <a:t>Deposit type analysis further showed that bookings made without deposits experience substantially higher cancellation rates than bookings secured with deposits.</a:t>
            </a:r>
          </a:p>
          <a:p>
            <a:endParaRPr lang="en-US" dirty="0"/>
          </a:p>
        </p:txBody>
      </p:sp>
      <p:sp>
        <p:nvSpPr>
          <p:cNvPr id="4" name="Content Placeholder 3">
            <a:extLst>
              <a:ext uri="{FF2B5EF4-FFF2-40B4-BE49-F238E27FC236}">
                <a16:creationId xmlns:a16="http://schemas.microsoft.com/office/drawing/2014/main" id="{89203C65-DD06-4FDA-032E-05E4A50CF0AB}"/>
              </a:ext>
            </a:extLst>
          </p:cNvPr>
          <p:cNvSpPr>
            <a:spLocks noGrp="1"/>
          </p:cNvSpPr>
          <p:nvPr>
            <p:ph sz="half" idx="2"/>
          </p:nvPr>
        </p:nvSpPr>
        <p:spPr>
          <a:xfrm>
            <a:off x="5710764" y="1328876"/>
            <a:ext cx="5909150" cy="4903111"/>
          </a:xfrm>
        </p:spPr>
        <p:txBody>
          <a:bodyPr>
            <a:normAutofit fontScale="70000" lnSpcReduction="20000"/>
          </a:bodyPr>
          <a:lstStyle/>
          <a:p>
            <a:pPr marL="0" indent="0">
              <a:buNone/>
            </a:pPr>
            <a:r>
              <a:rPr lang="en-US" sz="3300" b="1" dirty="0">
                <a:solidFill>
                  <a:schemeClr val="bg1"/>
                </a:solidFill>
              </a:rPr>
              <a:t>Key Findings</a:t>
            </a:r>
            <a:endParaRPr lang="en-US" dirty="0"/>
          </a:p>
          <a:p>
            <a:r>
              <a:rPr lang="en-US" sz="2400" dirty="0">
                <a:latin typeface="Tahoma" panose="020B0604030504040204" pitchFamily="34" charset="0"/>
                <a:ea typeface="Tahoma" panose="020B0604030504040204" pitchFamily="34" charset="0"/>
                <a:cs typeface="Tahoma" panose="020B0604030504040204" pitchFamily="34" charset="0"/>
              </a:rPr>
              <a:t>- TA/TO channels experience the highest cancellations.</a:t>
            </a:r>
          </a:p>
          <a:p>
            <a:r>
              <a:rPr lang="en-US" sz="2400" dirty="0">
                <a:latin typeface="Tahoma" panose="020B0604030504040204" pitchFamily="34" charset="0"/>
                <a:ea typeface="Tahoma" panose="020B0604030504040204" pitchFamily="34" charset="0"/>
                <a:cs typeface="Tahoma" panose="020B0604030504040204" pitchFamily="34" charset="0"/>
              </a:rPr>
              <a:t>- Online Travel Agency customers contribute the largest number of cancellations.</a:t>
            </a:r>
          </a:p>
          <a:p>
            <a:r>
              <a:rPr lang="en-US" sz="2400" dirty="0">
                <a:latin typeface="Tahoma" panose="020B0604030504040204" pitchFamily="34" charset="0"/>
                <a:ea typeface="Tahoma" panose="020B0604030504040204" pitchFamily="34" charset="0"/>
                <a:cs typeface="Tahoma" panose="020B0604030504040204" pitchFamily="34" charset="0"/>
              </a:rPr>
              <a:t>- Long lead-time bookings are more likely to be cancelled.</a:t>
            </a:r>
          </a:p>
          <a:p>
            <a:r>
              <a:rPr lang="en-US" sz="2400" dirty="0">
                <a:latin typeface="Tahoma" panose="020B0604030504040204" pitchFamily="34" charset="0"/>
                <a:ea typeface="Tahoma" panose="020B0604030504040204" pitchFamily="34" charset="0"/>
                <a:cs typeface="Tahoma" panose="020B0604030504040204" pitchFamily="34" charset="0"/>
              </a:rPr>
              <a:t>- No-deposit bookings account for most cancellations.</a:t>
            </a:r>
          </a:p>
          <a:p>
            <a:r>
              <a:rPr lang="en-US" sz="2400" dirty="0">
                <a:latin typeface="Tahoma" panose="020B0604030504040204" pitchFamily="34" charset="0"/>
                <a:ea typeface="Tahoma" panose="020B0604030504040204" pitchFamily="34" charset="0"/>
                <a:cs typeface="Tahoma" panose="020B0604030504040204" pitchFamily="34" charset="0"/>
              </a:rPr>
              <a:t>- Transient customers represent the largest share of cancelled bookings.</a:t>
            </a:r>
          </a:p>
          <a:p>
            <a:pPr marL="0" indent="0">
              <a:buNone/>
            </a:pPr>
            <a:r>
              <a:rPr lang="en-US" sz="3300" b="1" dirty="0">
                <a:solidFill>
                  <a:schemeClr val="bg1"/>
                </a:solidFill>
              </a:rPr>
              <a:t>Implications</a:t>
            </a:r>
            <a:r>
              <a:rPr lang="en-US" dirty="0"/>
              <a:t> </a:t>
            </a:r>
          </a:p>
          <a:p>
            <a:pPr marL="0" indent="0">
              <a:buNone/>
            </a:pPr>
            <a:r>
              <a:rPr lang="en-US" sz="2600" dirty="0">
                <a:latin typeface="Tahoma" panose="020B0604030504040204" pitchFamily="34" charset="0"/>
                <a:ea typeface="Tahoma" panose="020B0604030504040204" pitchFamily="34" charset="0"/>
                <a:cs typeface="Tahoma" panose="020B0604030504040204" pitchFamily="34" charset="0"/>
              </a:rPr>
              <a:t>Cancellation behavior represents a significant operational and financial challenge that directly affects occupancy forecasting and revenue management.</a:t>
            </a:r>
          </a:p>
          <a:p>
            <a:endParaRPr lang="en-US" dirty="0"/>
          </a:p>
        </p:txBody>
      </p:sp>
    </p:spTree>
    <p:extLst>
      <p:ext uri="{BB962C8B-B14F-4D97-AF65-F5344CB8AC3E}">
        <p14:creationId xmlns:p14="http://schemas.microsoft.com/office/powerpoint/2010/main" val="36811175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36DA-BB2D-3D01-4C9D-E751B686AA64}"/>
              </a:ext>
            </a:extLst>
          </p:cNvPr>
          <p:cNvSpPr>
            <a:spLocks noGrp="1"/>
          </p:cNvSpPr>
          <p:nvPr>
            <p:ph type="title"/>
          </p:nvPr>
        </p:nvSpPr>
        <p:spPr>
          <a:xfrm>
            <a:off x="195945" y="101026"/>
            <a:ext cx="9404723" cy="1400530"/>
          </a:xfrm>
        </p:spPr>
        <p:txBody>
          <a:bodyPr/>
          <a:lstStyle/>
          <a:p>
            <a:r>
              <a:rPr lang="en-US" b="1" dirty="0">
                <a:solidFill>
                  <a:schemeClr val="bg1"/>
                </a:solidFill>
              </a:rPr>
              <a:t>Operational Efficiency and Seasonality Analysis</a:t>
            </a:r>
            <a:br>
              <a:rPr lang="en-US" dirty="0"/>
            </a:br>
            <a:endParaRPr lang="en-US" dirty="0"/>
          </a:p>
        </p:txBody>
      </p:sp>
      <p:sp>
        <p:nvSpPr>
          <p:cNvPr id="3" name="Content Placeholder 2">
            <a:extLst>
              <a:ext uri="{FF2B5EF4-FFF2-40B4-BE49-F238E27FC236}">
                <a16:creationId xmlns:a16="http://schemas.microsoft.com/office/drawing/2014/main" id="{BFD4C7BC-128F-A1FF-255D-70FCD78005AE}"/>
              </a:ext>
            </a:extLst>
          </p:cNvPr>
          <p:cNvSpPr>
            <a:spLocks noGrp="1"/>
          </p:cNvSpPr>
          <p:nvPr>
            <p:ph sz="half" idx="1"/>
          </p:nvPr>
        </p:nvSpPr>
        <p:spPr>
          <a:xfrm>
            <a:off x="195946" y="1856935"/>
            <a:ext cx="5473334" cy="4399403"/>
          </a:xfrm>
        </p:spPr>
        <p:txBody>
          <a:bodyPr>
            <a:normAutofit fontScale="47500" lnSpcReduction="20000"/>
          </a:bodyPr>
          <a:lstStyle/>
          <a:p>
            <a:pPr marL="0" indent="0">
              <a:buNone/>
            </a:pPr>
            <a:r>
              <a:rPr lang="en-US" dirty="0"/>
              <a:t> </a:t>
            </a:r>
            <a:endParaRPr lang="en-US" sz="2400" dirty="0">
              <a:latin typeface="Tahoma" panose="020B0604030504040204" pitchFamily="34" charset="0"/>
              <a:ea typeface="Tahoma" panose="020B0604030504040204" pitchFamily="34" charset="0"/>
              <a:cs typeface="Tahoma" panose="020B0604030504040204" pitchFamily="34" charset="0"/>
            </a:endParaRPr>
          </a:p>
          <a:p>
            <a:r>
              <a:rPr lang="en-US" sz="2900" dirty="0">
                <a:latin typeface="Tahoma" panose="020B0604030504040204" pitchFamily="34" charset="0"/>
                <a:ea typeface="Tahoma" panose="020B0604030504040204" pitchFamily="34" charset="0"/>
                <a:cs typeface="Tahoma" panose="020B0604030504040204" pitchFamily="34" charset="0"/>
              </a:rPr>
              <a:t>Operational analysis indicates that the hotel operates efficiently with an average waiting period of approximately two days.</a:t>
            </a:r>
          </a:p>
          <a:p>
            <a:pPr marL="0" indent="0">
              <a:buNone/>
            </a:pPr>
            <a:endParaRPr lang="en-US" sz="2900" dirty="0">
              <a:latin typeface="Tahoma" panose="020B0604030504040204" pitchFamily="34" charset="0"/>
              <a:ea typeface="Tahoma" panose="020B0604030504040204" pitchFamily="34" charset="0"/>
              <a:cs typeface="Tahoma" panose="020B0604030504040204" pitchFamily="34" charset="0"/>
            </a:endParaRPr>
          </a:p>
          <a:p>
            <a:r>
              <a:rPr lang="en-US" sz="2900" dirty="0">
                <a:latin typeface="Tahoma" panose="020B0604030504040204" pitchFamily="34" charset="0"/>
                <a:ea typeface="Tahoma" panose="020B0604030504040204" pitchFamily="34" charset="0"/>
                <a:cs typeface="Tahoma" panose="020B0604030504040204" pitchFamily="34" charset="0"/>
              </a:rPr>
              <a:t>Room reassignment occurs in a relatively small proportion of bookings, indicating effective room allocation processes. Most guests receive their originally requested room types.</a:t>
            </a:r>
          </a:p>
          <a:p>
            <a:pPr marL="0" indent="0">
              <a:buNone/>
            </a:pPr>
            <a:endParaRPr lang="en-US" sz="2900" dirty="0">
              <a:latin typeface="Tahoma" panose="020B0604030504040204" pitchFamily="34" charset="0"/>
              <a:ea typeface="Tahoma" panose="020B0604030504040204" pitchFamily="34" charset="0"/>
              <a:cs typeface="Tahoma" panose="020B0604030504040204" pitchFamily="34" charset="0"/>
            </a:endParaRPr>
          </a:p>
          <a:p>
            <a:r>
              <a:rPr lang="en-US" sz="2900" dirty="0">
                <a:latin typeface="Tahoma" panose="020B0604030504040204" pitchFamily="34" charset="0"/>
                <a:ea typeface="Tahoma" panose="020B0604030504040204" pitchFamily="34" charset="0"/>
                <a:cs typeface="Tahoma" panose="020B0604030504040204" pitchFamily="34" charset="0"/>
              </a:rPr>
              <a:t>Parking demand remains low, with only a small percentage of guests requiring parking facilities. Special requests are most common among transient customers.</a:t>
            </a:r>
          </a:p>
          <a:p>
            <a:pPr marL="0" indent="0">
              <a:buNone/>
            </a:pPr>
            <a:endParaRPr lang="en-US" sz="2900" dirty="0">
              <a:latin typeface="Tahoma" panose="020B0604030504040204" pitchFamily="34" charset="0"/>
              <a:ea typeface="Tahoma" panose="020B0604030504040204" pitchFamily="34" charset="0"/>
              <a:cs typeface="Tahoma" panose="020B0604030504040204" pitchFamily="34" charset="0"/>
            </a:endParaRPr>
          </a:p>
          <a:p>
            <a:r>
              <a:rPr lang="en-US" sz="2900" dirty="0">
                <a:latin typeface="Tahoma" panose="020B0604030504040204" pitchFamily="34" charset="0"/>
                <a:ea typeface="Tahoma" panose="020B0604030504040204" pitchFamily="34" charset="0"/>
                <a:cs typeface="Tahoma" panose="020B0604030504040204" pitchFamily="34" charset="0"/>
              </a:rPr>
              <a:t>Seasonality analysis indicates varying booking patterns throughout the year, suggesting the need for strategic resource planning during peak and off-peak periods.</a:t>
            </a:r>
          </a:p>
          <a:p>
            <a:endParaRPr lang="en-US" dirty="0"/>
          </a:p>
        </p:txBody>
      </p:sp>
      <p:sp>
        <p:nvSpPr>
          <p:cNvPr id="4" name="Content Placeholder 3">
            <a:extLst>
              <a:ext uri="{FF2B5EF4-FFF2-40B4-BE49-F238E27FC236}">
                <a16:creationId xmlns:a16="http://schemas.microsoft.com/office/drawing/2014/main" id="{FD6FE34D-3234-013B-F77D-9786248A0939}"/>
              </a:ext>
            </a:extLst>
          </p:cNvPr>
          <p:cNvSpPr>
            <a:spLocks noGrp="1"/>
          </p:cNvSpPr>
          <p:nvPr>
            <p:ph sz="half" idx="2"/>
          </p:nvPr>
        </p:nvSpPr>
        <p:spPr>
          <a:xfrm>
            <a:off x="6086904" y="1856935"/>
            <a:ext cx="5909150" cy="4423753"/>
          </a:xfrm>
        </p:spPr>
        <p:txBody>
          <a:bodyPr>
            <a:normAutofit fontScale="47500" lnSpcReduction="20000"/>
          </a:bodyPr>
          <a:lstStyle/>
          <a:p>
            <a:pPr marL="0" indent="0">
              <a:buNone/>
            </a:pPr>
            <a:r>
              <a:rPr lang="en-US" sz="3800" b="1" dirty="0">
                <a:solidFill>
                  <a:schemeClr val="bg1"/>
                </a:solidFill>
              </a:rPr>
              <a:t>Key Findings</a:t>
            </a:r>
            <a:r>
              <a:rPr lang="en-US" dirty="0"/>
              <a:t> </a:t>
            </a:r>
          </a:p>
          <a:p>
            <a:r>
              <a:rPr lang="en-US" sz="3200" dirty="0">
                <a:latin typeface="Tahoma" panose="020B0604030504040204" pitchFamily="34" charset="0"/>
                <a:ea typeface="Tahoma" panose="020B0604030504040204" pitchFamily="34" charset="0"/>
                <a:cs typeface="Tahoma" panose="020B0604030504040204" pitchFamily="34" charset="0"/>
              </a:rPr>
              <a:t>- Average waiting list period is approximately two days.</a:t>
            </a:r>
          </a:p>
          <a:p>
            <a:r>
              <a:rPr lang="en-US" sz="3200" dirty="0">
                <a:latin typeface="Tahoma" panose="020B0604030504040204" pitchFamily="34" charset="0"/>
                <a:ea typeface="Tahoma" panose="020B0604030504040204" pitchFamily="34" charset="0"/>
                <a:cs typeface="Tahoma" panose="020B0604030504040204" pitchFamily="34" charset="0"/>
              </a:rPr>
              <a:t>- Most guests receive their requested room assignments.</a:t>
            </a:r>
          </a:p>
          <a:p>
            <a:r>
              <a:rPr lang="en-US" sz="3200" dirty="0">
                <a:latin typeface="Tahoma" panose="020B0604030504040204" pitchFamily="34" charset="0"/>
                <a:ea typeface="Tahoma" panose="020B0604030504040204" pitchFamily="34" charset="0"/>
                <a:cs typeface="Tahoma" panose="020B0604030504040204" pitchFamily="34" charset="0"/>
              </a:rPr>
              <a:t>- Parking demand remains relatively low.</a:t>
            </a:r>
          </a:p>
          <a:p>
            <a:r>
              <a:rPr lang="en-US" sz="3200" dirty="0">
                <a:latin typeface="Tahoma" panose="020B0604030504040204" pitchFamily="34" charset="0"/>
                <a:ea typeface="Tahoma" panose="020B0604030504040204" pitchFamily="34" charset="0"/>
                <a:cs typeface="Tahoma" panose="020B0604030504040204" pitchFamily="34" charset="0"/>
              </a:rPr>
              <a:t>- Transient customers submit the highest number of special requests.</a:t>
            </a:r>
          </a:p>
          <a:p>
            <a:r>
              <a:rPr lang="en-US" sz="3200" dirty="0">
                <a:latin typeface="Tahoma" panose="020B0604030504040204" pitchFamily="34" charset="0"/>
                <a:ea typeface="Tahoma" panose="020B0604030504040204" pitchFamily="34" charset="0"/>
                <a:cs typeface="Tahoma" panose="020B0604030504040204" pitchFamily="34" charset="0"/>
              </a:rPr>
              <a:t>- Seasonal demand fluctuations affect booking patterns.</a:t>
            </a:r>
            <a:r>
              <a:rPr lang="en-US" dirty="0"/>
              <a:t> </a:t>
            </a:r>
          </a:p>
          <a:p>
            <a:pPr marL="0" indent="0">
              <a:buNone/>
            </a:pPr>
            <a:r>
              <a:rPr lang="en-US" sz="3800" b="1" dirty="0">
                <a:solidFill>
                  <a:schemeClr val="bg1"/>
                </a:solidFill>
              </a:rPr>
              <a:t>Implications</a:t>
            </a:r>
            <a:endParaRPr lang="en-US" dirty="0"/>
          </a:p>
          <a:p>
            <a:r>
              <a:rPr lang="en-US" sz="3200" dirty="0">
                <a:latin typeface="Tahoma" panose="020B0604030504040204" pitchFamily="34" charset="0"/>
                <a:ea typeface="Tahoma" panose="020B0604030504040204" pitchFamily="34" charset="0"/>
                <a:cs typeface="Tahoma" panose="020B0604030504040204" pitchFamily="34" charset="0"/>
              </a:rPr>
              <a:t>Current operational processes are effective, but continued monitoring of room allocation and seasonal demand is necessary to maintain service quality.</a:t>
            </a:r>
          </a:p>
          <a:p>
            <a:endParaRPr lang="en-US" dirty="0"/>
          </a:p>
        </p:txBody>
      </p:sp>
    </p:spTree>
    <p:extLst>
      <p:ext uri="{BB962C8B-B14F-4D97-AF65-F5344CB8AC3E}">
        <p14:creationId xmlns:p14="http://schemas.microsoft.com/office/powerpoint/2010/main" val="34041335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D7D9A1-FAA9-20FD-E128-B36159ECB8EB}"/>
              </a:ext>
            </a:extLst>
          </p:cNvPr>
          <p:cNvSpPr>
            <a:spLocks noGrp="1"/>
          </p:cNvSpPr>
          <p:nvPr>
            <p:ph type="title"/>
          </p:nvPr>
        </p:nvSpPr>
        <p:spPr>
          <a:xfrm>
            <a:off x="187929" y="83339"/>
            <a:ext cx="9404723" cy="943604"/>
          </a:xfrm>
        </p:spPr>
        <p:txBody>
          <a:bodyPr/>
          <a:lstStyle/>
          <a:p>
            <a:r>
              <a:rPr lang="en-US" b="1" dirty="0">
                <a:solidFill>
                  <a:schemeClr val="bg1"/>
                </a:solidFill>
              </a:rPr>
              <a:t>Conclusion</a:t>
            </a:r>
            <a:br>
              <a:rPr lang="en-US" dirty="0"/>
            </a:br>
            <a:endParaRPr lang="en-US" dirty="0"/>
          </a:p>
        </p:txBody>
      </p:sp>
      <p:sp>
        <p:nvSpPr>
          <p:cNvPr id="3" name="Content Placeholder 2">
            <a:extLst>
              <a:ext uri="{FF2B5EF4-FFF2-40B4-BE49-F238E27FC236}">
                <a16:creationId xmlns:a16="http://schemas.microsoft.com/office/drawing/2014/main" id="{4BC5E8E8-C780-6A9B-B41D-2A36EEAEE2D9}"/>
              </a:ext>
            </a:extLst>
          </p:cNvPr>
          <p:cNvSpPr>
            <a:spLocks noGrp="1"/>
          </p:cNvSpPr>
          <p:nvPr>
            <p:ph idx="1"/>
          </p:nvPr>
        </p:nvSpPr>
        <p:spPr>
          <a:xfrm>
            <a:off x="645131" y="1308296"/>
            <a:ext cx="9553946" cy="4940104"/>
          </a:xfrm>
        </p:spPr>
        <p:txBody>
          <a:bodyPr>
            <a:normAutofit fontScale="92500" lnSpcReduction="20000"/>
          </a:bodyPr>
          <a:lstStyle/>
          <a:p>
            <a:pPr marL="0" indent="0">
              <a:buNone/>
            </a:pPr>
            <a:r>
              <a:rPr lang="en-US" dirty="0"/>
              <a:t> </a:t>
            </a:r>
          </a:p>
          <a:p>
            <a:r>
              <a:rPr lang="en-US" sz="2400" dirty="0">
                <a:latin typeface="Tahoma" panose="020B0604030504040204" pitchFamily="34" charset="0"/>
                <a:ea typeface="Tahoma" panose="020B0604030504040204" pitchFamily="34" charset="0"/>
                <a:cs typeface="Tahoma" panose="020B0604030504040204" pitchFamily="34" charset="0"/>
              </a:rPr>
              <a:t>The analysis demonstrates that City Hotels are the primary drivers of revenue and occupancy performance. International travelers, particularly from Portugal and other European countries, constitute the largest customer segment. Room Type A and Online Travel Agency channels play critical roles in revenue generation.</a:t>
            </a:r>
          </a:p>
          <a:p>
            <a:pPr marL="0" indent="0">
              <a:buNone/>
            </a:pPr>
            <a:endParaRPr lang="en-US" sz="2400" dirty="0">
              <a:latin typeface="Tahoma" panose="020B0604030504040204" pitchFamily="34" charset="0"/>
              <a:ea typeface="Tahoma" panose="020B0604030504040204" pitchFamily="34" charset="0"/>
              <a:cs typeface="Tahoma" panose="020B0604030504040204" pitchFamily="34" charset="0"/>
            </a:endParaRPr>
          </a:p>
          <a:p>
            <a:r>
              <a:rPr lang="en-US" sz="2400" dirty="0">
                <a:latin typeface="Tahoma" panose="020B0604030504040204" pitchFamily="34" charset="0"/>
                <a:ea typeface="Tahoma" panose="020B0604030504040204" pitchFamily="34" charset="0"/>
                <a:cs typeface="Tahoma" panose="020B0604030504040204" pitchFamily="34" charset="0"/>
              </a:rPr>
              <a:t>However, high cancellation levels associated with long lead times, no-deposit bookings, and travel agency channels present significant risks to revenue stability and operational planning.</a:t>
            </a:r>
          </a:p>
          <a:p>
            <a:pPr marL="0" indent="0">
              <a:buNone/>
            </a:pPr>
            <a:endParaRPr lang="en-US" sz="2400" dirty="0">
              <a:latin typeface="Tahoma" panose="020B0604030504040204" pitchFamily="34" charset="0"/>
              <a:ea typeface="Tahoma" panose="020B0604030504040204" pitchFamily="34" charset="0"/>
              <a:cs typeface="Tahoma" panose="020B0604030504040204" pitchFamily="34" charset="0"/>
            </a:endParaRPr>
          </a:p>
          <a:p>
            <a:r>
              <a:rPr lang="en-US" sz="2400" dirty="0">
                <a:latin typeface="Tahoma" panose="020B0604030504040204" pitchFamily="34" charset="0"/>
                <a:ea typeface="Tahoma" panose="020B0604030504040204" pitchFamily="34" charset="0"/>
                <a:cs typeface="Tahoma" panose="020B0604030504040204" pitchFamily="34" charset="0"/>
              </a:rPr>
              <a:t>Overall, the hotel maintains strong booking performance and operational efficiency but can further improve profitability through enhanced cancellation management, customer retention initiatives, and targeted marketing strategies.</a:t>
            </a:r>
          </a:p>
          <a:p>
            <a:endParaRPr lang="en-US" dirty="0"/>
          </a:p>
        </p:txBody>
      </p:sp>
    </p:spTree>
    <p:extLst>
      <p:ext uri="{BB962C8B-B14F-4D97-AF65-F5344CB8AC3E}">
        <p14:creationId xmlns:p14="http://schemas.microsoft.com/office/powerpoint/2010/main" val="36217366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10788-4DA1-1441-0452-36FE63414D5B}"/>
              </a:ext>
            </a:extLst>
          </p:cNvPr>
          <p:cNvSpPr>
            <a:spLocks noGrp="1"/>
          </p:cNvSpPr>
          <p:nvPr>
            <p:ph type="title"/>
          </p:nvPr>
        </p:nvSpPr>
        <p:spPr>
          <a:xfrm>
            <a:off x="187929" y="90372"/>
            <a:ext cx="9404723" cy="1038457"/>
          </a:xfrm>
        </p:spPr>
        <p:txBody>
          <a:bodyPr/>
          <a:lstStyle/>
          <a:p>
            <a:r>
              <a:rPr lang="en-US" b="1" dirty="0">
                <a:solidFill>
                  <a:schemeClr val="bg1"/>
                </a:solidFill>
              </a:rPr>
              <a:t>Recommendations</a:t>
            </a:r>
            <a:br>
              <a:rPr lang="en-US" dirty="0"/>
            </a:br>
            <a:endParaRPr lang="en-US" dirty="0"/>
          </a:p>
        </p:txBody>
      </p:sp>
      <p:sp>
        <p:nvSpPr>
          <p:cNvPr id="3" name="Content Placeholder 2">
            <a:extLst>
              <a:ext uri="{FF2B5EF4-FFF2-40B4-BE49-F238E27FC236}">
                <a16:creationId xmlns:a16="http://schemas.microsoft.com/office/drawing/2014/main" id="{9E4FE669-A4F8-9A9F-DFD4-26F1E92D6DC5}"/>
              </a:ext>
            </a:extLst>
          </p:cNvPr>
          <p:cNvSpPr>
            <a:spLocks noGrp="1"/>
          </p:cNvSpPr>
          <p:nvPr>
            <p:ph idx="1"/>
          </p:nvPr>
        </p:nvSpPr>
        <p:spPr>
          <a:xfrm>
            <a:off x="576775" y="1617786"/>
            <a:ext cx="10269416" cy="4853352"/>
          </a:xfrm>
        </p:spPr>
        <p:txBody>
          <a:bodyPr>
            <a:normAutofit fontScale="32500" lnSpcReduction="20000"/>
          </a:bodyPr>
          <a:lstStyle/>
          <a:p>
            <a:pPr marL="0" indent="0">
              <a:buNone/>
            </a:pPr>
            <a:r>
              <a:rPr lang="en-US" dirty="0"/>
              <a:t> </a:t>
            </a:r>
          </a:p>
          <a:p>
            <a:pPr lvl="0"/>
            <a:r>
              <a:rPr lang="en-US" sz="5800" dirty="0">
                <a:latin typeface="Tahoma" panose="020B0604030504040204" pitchFamily="34" charset="0"/>
                <a:ea typeface="Tahoma" panose="020B0604030504040204" pitchFamily="34" charset="0"/>
                <a:cs typeface="Tahoma" panose="020B0604030504040204" pitchFamily="34" charset="0"/>
              </a:rPr>
              <a:t>Increase promotion of high-performing Room Type A to maximize revenue generation. </a:t>
            </a:r>
          </a:p>
          <a:p>
            <a:pPr lvl="0"/>
            <a:r>
              <a:rPr lang="en-US" sz="5800" dirty="0">
                <a:latin typeface="Tahoma" panose="020B0604030504040204" pitchFamily="34" charset="0"/>
                <a:ea typeface="Tahoma" panose="020B0604030504040204" pitchFamily="34" charset="0"/>
                <a:cs typeface="Tahoma" panose="020B0604030504040204" pitchFamily="34" charset="0"/>
              </a:rPr>
              <a:t>Strengthen relationships with key international markets, particularly Portugal, the United Kingdom, France, Spain, and Germany.</a:t>
            </a:r>
          </a:p>
          <a:p>
            <a:pPr lvl="0"/>
            <a:r>
              <a:rPr lang="en-US" sz="5800" dirty="0">
                <a:latin typeface="Tahoma" panose="020B0604030504040204" pitchFamily="34" charset="0"/>
                <a:ea typeface="Tahoma" panose="020B0604030504040204" pitchFamily="34" charset="0"/>
                <a:cs typeface="Tahoma" panose="020B0604030504040204" pitchFamily="34" charset="0"/>
              </a:rPr>
              <a:t>Implement stricter deposit policies to reduce cancellation rates.</a:t>
            </a:r>
          </a:p>
          <a:p>
            <a:pPr lvl="0"/>
            <a:r>
              <a:rPr lang="en-US" sz="5800" dirty="0">
                <a:latin typeface="Tahoma" panose="020B0604030504040204" pitchFamily="34" charset="0"/>
                <a:ea typeface="Tahoma" panose="020B0604030504040204" pitchFamily="34" charset="0"/>
                <a:cs typeface="Tahoma" panose="020B0604030504040204" pitchFamily="34" charset="0"/>
              </a:rPr>
              <a:t>Develop loyalty and rewards programs to increase repeat guest bookings.</a:t>
            </a:r>
          </a:p>
          <a:p>
            <a:pPr lvl="0"/>
            <a:r>
              <a:rPr lang="en-US" sz="5800" dirty="0">
                <a:latin typeface="Tahoma" panose="020B0604030504040204" pitchFamily="34" charset="0"/>
                <a:ea typeface="Tahoma" panose="020B0604030504040204" pitchFamily="34" charset="0"/>
                <a:cs typeface="Tahoma" panose="020B0604030504040204" pitchFamily="34" charset="0"/>
              </a:rPr>
              <a:t>Improve forecasting models for long lead-time reservations to better manage cancellation risks.</a:t>
            </a:r>
          </a:p>
          <a:p>
            <a:pPr lvl="0"/>
            <a:r>
              <a:rPr lang="en-US" sz="5800" dirty="0">
                <a:latin typeface="Tahoma" panose="020B0604030504040204" pitchFamily="34" charset="0"/>
                <a:ea typeface="Tahoma" panose="020B0604030504040204" pitchFamily="34" charset="0"/>
                <a:cs typeface="Tahoma" panose="020B0604030504040204" pitchFamily="34" charset="0"/>
              </a:rPr>
              <a:t>Optimize partnerships with Online Travel Agencies while introducing measures to reduce cancellation rates from those channels.</a:t>
            </a:r>
          </a:p>
          <a:p>
            <a:pPr lvl="0"/>
            <a:r>
              <a:rPr lang="en-US" sz="5800" dirty="0">
                <a:latin typeface="Tahoma" panose="020B0604030504040204" pitchFamily="34" charset="0"/>
                <a:ea typeface="Tahoma" panose="020B0604030504040204" pitchFamily="34" charset="0"/>
                <a:cs typeface="Tahoma" panose="020B0604030504040204" pitchFamily="34" charset="0"/>
              </a:rPr>
              <a:t>Continue maintaining efficient room allocation processes to minimize guest dissatisfaction.</a:t>
            </a:r>
          </a:p>
          <a:p>
            <a:pPr lvl="0"/>
            <a:r>
              <a:rPr lang="en-US" sz="5800" dirty="0">
                <a:latin typeface="Tahoma" panose="020B0604030504040204" pitchFamily="34" charset="0"/>
                <a:ea typeface="Tahoma" panose="020B0604030504040204" pitchFamily="34" charset="0"/>
                <a:cs typeface="Tahoma" panose="020B0604030504040204" pitchFamily="34" charset="0"/>
              </a:rPr>
              <a:t>Introduce targeted marketing campaigns during off-peak periods to improve occupancy and revenue performance.</a:t>
            </a:r>
          </a:p>
        </p:txBody>
      </p:sp>
    </p:spTree>
    <p:extLst>
      <p:ext uri="{BB962C8B-B14F-4D97-AF65-F5344CB8AC3E}">
        <p14:creationId xmlns:p14="http://schemas.microsoft.com/office/powerpoint/2010/main" val="362010316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30</TotalTime>
  <Words>1199</Words>
  <Application>Microsoft Office PowerPoint</Application>
  <PresentationFormat>Widescreen</PresentationFormat>
  <Paragraphs>95</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Century Gothic</vt:lpstr>
      <vt:lpstr>Tahoma</vt:lpstr>
      <vt:lpstr>Wingdings 3</vt:lpstr>
      <vt:lpstr>Ion</vt:lpstr>
      <vt:lpstr>HOTEL BOOKING ANALYTICS REPORT </vt:lpstr>
      <vt:lpstr>Executive Summary </vt:lpstr>
      <vt:lpstr>Hotel Executive Overview </vt:lpstr>
      <vt:lpstr>Customer and Geographic Analysis </vt:lpstr>
      <vt:lpstr>Revenue and Room Performance Analysis </vt:lpstr>
      <vt:lpstr>Cancellation Analysis </vt:lpstr>
      <vt:lpstr>Operational Efficiency and Seasonality Analysis </vt:lpstr>
      <vt:lpstr>Conclusion </vt:lpstr>
      <vt:lpstr>Recommendations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USER</dc:creator>
  <cp:lastModifiedBy>USER</cp:lastModifiedBy>
  <cp:revision>1</cp:revision>
  <dcterms:created xsi:type="dcterms:W3CDTF">2026-06-07T07:24:47Z</dcterms:created>
  <dcterms:modified xsi:type="dcterms:W3CDTF">2026-06-07T07:55:24Z</dcterms:modified>
</cp:coreProperties>
</file>